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5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234440"/>
            <a:ext cx="107899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Aptos"/>
              </a:defRPr>
            </a:pPr>
            <a:r>
              <a:t>CSV User Manager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5740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0">
                <a:solidFill>
                  <a:srgbClr val="D2DCEB"/>
                </a:solidFill>
                <a:latin typeface="Aptos"/>
              </a:defRPr>
            </a:pPr>
            <a:r>
              <a:t>A focused dashboard for CSV-backed identity and host access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3492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0">
                <a:solidFill>
                  <a:srgbClr val="AAB9CD"/>
                </a:solidFill>
                <a:latin typeface="Aptos"/>
              </a:defRPr>
            </a:pPr>
            <a:r>
              <a:t>Project overview and operational workflow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212529"/>
                </a:solidFill>
                <a:latin typeface="Aptos"/>
              </a:defRPr>
            </a:pPr>
            <a:r>
              <a:t>Project goals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6868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0">
                <a:solidFill>
                  <a:srgbClr val="6C757D"/>
                </a:solidFill>
                <a:latin typeface="Aptos"/>
              </a:defRPr>
            </a:pPr>
            <a:r>
              <a:t>Make small-scale identity and access administration predictable, visible, and repeatable.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3327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0">
                <a:solidFill>
                  <a:srgbClr val="373737"/>
                </a:solidFill>
                <a:latin typeface="Aptos"/>
              </a:defRPr>
            </a:pPr>
            <a:r>
              <a:t>• Manage users and machine-groups from one authenticated PHP dashboard.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21408"/>
            <a:ext cx="103327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0">
                <a:solidFill>
                  <a:srgbClr val="373737"/>
                </a:solidFill>
                <a:latin typeface="Aptos"/>
              </a:defRPr>
            </a:pPr>
            <a:r>
              <a:t>• Keep CSV files human-readable and easy to review or version.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871215"/>
            <a:ext cx="103327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0">
                <a:solidFill>
                  <a:srgbClr val="373737"/>
                </a:solidFill>
                <a:latin typeface="Aptos"/>
              </a:defRPr>
            </a:pPr>
            <a:r>
              <a:t>• Generate deployment-ready passwd and group blocks from source data.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621024"/>
            <a:ext cx="103327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0">
                <a:solidFill>
                  <a:srgbClr val="373737"/>
                </a:solidFill>
                <a:latin typeface="Aptos"/>
              </a:defRPr>
            </a:pPr>
            <a:r>
              <a:t>• Apply changes deliberately through explicit, manual Ansible playbooks.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370831"/>
            <a:ext cx="103327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0">
                <a:solidFill>
                  <a:srgbClr val="373737"/>
                </a:solidFill>
                <a:latin typeface="Aptos"/>
              </a:defRPr>
            </a:pPr>
            <a:r>
              <a:t>• Protect unrelated host membership data when one user assignment changes.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212529"/>
                </a:solidFill>
                <a:latin typeface="Aptos"/>
              </a:defRPr>
            </a:pPr>
            <a:r>
              <a:t>Dashboard at a glance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6868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0">
                <a:solidFill>
                  <a:srgbClr val="6C757D"/>
                </a:solidFill>
                <a:latin typeface="Aptos"/>
              </a:defRPr>
            </a:pPr>
            <a:r>
              <a:t>The UI separates user identity management from host access management.</a:t>
            </a:r>
          </a:p>
        </p:txBody>
      </p:sp>
      <p:pic>
        <p:nvPicPr>
          <p:cNvPr id="4" name="Picture 3" descr="dashboard-screen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11201400" cy="686085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212529"/>
                </a:solidFill>
                <a:latin typeface="Aptos"/>
              </a:defRPr>
            </a:pPr>
            <a:r>
              <a:t>Core features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234440"/>
            <a:ext cx="3474720" cy="1554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E7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1" y="1371600"/>
            <a:ext cx="315467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800" b="1">
                <a:solidFill>
                  <a:srgbClr val="4E73DF"/>
                </a:solidFill>
                <a:latin typeface="Aptos"/>
              </a:defRPr>
            </a:pPr>
            <a:r>
              <a:t>User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1" y="1801368"/>
            <a:ext cx="3154679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0">
                <a:solidFill>
                  <a:srgbClr val="414141"/>
                </a:solidFill>
                <a:latin typeface="Aptos"/>
              </a:defRPr>
            </a:pPr>
            <a:r>
              <a:t>Add, edit, delete, search, and inspect complete user records. Assign a specific Auth Host or all hosts.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234440"/>
            <a:ext cx="3474720" cy="1554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5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53712" y="1371600"/>
            <a:ext cx="315467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800" b="1">
                <a:solidFill>
                  <a:srgbClr val="2E59D9"/>
                </a:solidFill>
                <a:latin typeface="Aptos"/>
              </a:defRPr>
            </a:pPr>
            <a:r>
              <a:t>Host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53712" y="1801368"/>
            <a:ext cx="3154679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0">
                <a:solidFill>
                  <a:srgbClr val="414141"/>
                </a:solidFill>
                <a:latin typeface="Aptos"/>
              </a:defRPr>
            </a:pPr>
            <a:r>
              <a:t>Maintain machine-groups, IDs, and member lists while preserving existing members during targeted updates.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234440"/>
            <a:ext cx="3474720" cy="1554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E7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02752" y="1371600"/>
            <a:ext cx="315467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800" b="1">
                <a:solidFill>
                  <a:srgbClr val="4E73DF"/>
                </a:solidFill>
                <a:latin typeface="Aptos"/>
              </a:defRPr>
            </a:pPr>
            <a:r>
              <a:t>Raw file controls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02752" y="1801368"/>
            <a:ext cx="3154679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0">
                <a:solidFill>
                  <a:srgbClr val="414141"/>
                </a:solidFill>
                <a:latin typeface="Aptos"/>
              </a:defRPr>
            </a:pPr>
            <a:r>
              <a:t>View or edit source CSVs and generated blocks in authenticated, readable pages.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154680"/>
            <a:ext cx="3474720" cy="1554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5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1" y="3291840"/>
            <a:ext cx="315467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800" b="1">
                <a:solidFill>
                  <a:srgbClr val="2E59D9"/>
                </a:solidFill>
                <a:latin typeface="Aptos"/>
              </a:defRPr>
            </a:pPr>
            <a:r>
              <a:t>Safe publishing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1" y="3721608"/>
            <a:ext cx="3154679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0">
                <a:solidFill>
                  <a:srgbClr val="414141"/>
                </a:solidFill>
                <a:latin typeface="Aptos"/>
              </a:defRPr>
            </a:pPr>
            <a:r>
              <a:t>Publish hosts-block.txt separately from users-block.txt and groups-block.txt; publishing never runs Ansible.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3154680"/>
            <a:ext cx="3474720" cy="1554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E7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53712" y="3291840"/>
            <a:ext cx="315467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800" b="1">
                <a:solidFill>
                  <a:srgbClr val="4E73DF"/>
                </a:solidFill>
                <a:latin typeface="Aptos"/>
              </a:defRPr>
            </a:pPr>
            <a:r>
              <a:t>Operational safeguards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53712" y="3721608"/>
            <a:ext cx="3154679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0">
                <a:solidFill>
                  <a:srgbClr val="414141"/>
                </a:solidFill>
                <a:latin typeface="Aptos"/>
              </a:defRPr>
            </a:pPr>
            <a:r>
              <a:t>Password hashing, locked raw-file writes, escaped output, atomic user-block generation, and backups.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3154680"/>
            <a:ext cx="3474720" cy="1554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5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02752" y="3291840"/>
            <a:ext cx="315467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800" b="1">
                <a:solidFill>
                  <a:srgbClr val="2E59D9"/>
                </a:solidFill>
                <a:latin typeface="Aptos"/>
              </a:defRPr>
            </a:pPr>
            <a:r>
              <a:t>Usable layout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02752" y="3721608"/>
            <a:ext cx="3154679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0">
                <a:solidFill>
                  <a:srgbClr val="414141"/>
                </a:solidFill>
                <a:latin typeface="Aptos"/>
              </a:defRPr>
            </a:pPr>
            <a:r>
              <a:t>Side-by-side management areas, searchable lists, internal list scrolling, and page-level scrolling.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212529"/>
                </a:solidFill>
                <a:latin typeface="Aptos"/>
              </a:defRPr>
            </a:pPr>
            <a:r>
              <a:t>Project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6868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0">
                <a:solidFill>
                  <a:srgbClr val="6C757D"/>
                </a:solidFill>
                <a:latin typeface="Aptos"/>
              </a:defRPr>
            </a:pPr>
            <a:r>
              <a:t>Small, explicit files keep the application easy to deploy and understand.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34440"/>
            <a:ext cx="347472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E7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1" y="1371600"/>
            <a:ext cx="315467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800" b="1">
                <a:solidFill>
                  <a:srgbClr val="4E73DF"/>
                </a:solidFill>
                <a:latin typeface="Aptos"/>
              </a:defRPr>
            </a:pPr>
            <a:r>
              <a:t>Web application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1" y="1801368"/>
            <a:ext cx="3154679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0">
                <a:solidFill>
                  <a:srgbClr val="414141"/>
                </a:solidFill>
                <a:latin typeface="Aptos"/>
              </a:defRPr>
            </a:pPr>
            <a:r>
              <a:t>`index.php` handles authentication, CSV operations, synchronization, publishing, and raw views. `view.php` renders the dashboard.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234440"/>
            <a:ext cx="347472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5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53712" y="1371600"/>
            <a:ext cx="315467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800" b="1">
                <a:solidFill>
                  <a:srgbClr val="2E59D9"/>
                </a:solidFill>
                <a:latin typeface="Aptos"/>
              </a:defRPr>
            </a:pPr>
            <a:r>
              <a:t>Source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53712" y="1801368"/>
            <a:ext cx="3154679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0">
                <a:solidFill>
                  <a:srgbClr val="414141"/>
                </a:solidFill>
                <a:latin typeface="Aptos"/>
              </a:defRPr>
            </a:pPr>
            <a:r>
              <a:t>`users.csv` stores identity records. `hosts.csv` stores machine-groups and member lists.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234440"/>
            <a:ext cx="347472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E7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02752" y="1371600"/>
            <a:ext cx="315467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800" b="1">
                <a:solidFill>
                  <a:srgbClr val="4E73DF"/>
                </a:solidFill>
                <a:latin typeface="Aptos"/>
              </a:defRPr>
            </a:pPr>
            <a:r>
              <a:t>Generated artifacts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02752" y="1801368"/>
            <a:ext cx="3154679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0">
                <a:solidFill>
                  <a:srgbClr val="414141"/>
                </a:solidFill>
                <a:latin typeface="Aptos"/>
              </a:defRPr>
            </a:pPr>
            <a:r>
              <a:t>`users-block.txt`, `groups-block.txt`, and `hosts-block.txt` translate dashboard data into system-file formats.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14600" y="3703320"/>
            <a:ext cx="3474720" cy="1508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5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79192" y="3840480"/>
            <a:ext cx="315467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800" b="1">
                <a:solidFill>
                  <a:srgbClr val="2E59D9"/>
                </a:solidFill>
                <a:latin typeface="Aptos"/>
              </a:defRPr>
            </a:pPr>
            <a:r>
              <a:t>Remote automation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79192" y="4270248"/>
            <a:ext cx="3154679" cy="8229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0">
                <a:solidFill>
                  <a:srgbClr val="414141"/>
                </a:solidFill>
                <a:latin typeface="Aptos"/>
              </a:defRPr>
            </a:pPr>
            <a:r>
              <a:t>`update-group-block.yml` and `update-user-block.yml` update remote `/etc/group` and `/etc/passwd` on `virt` hosts.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3703320"/>
            <a:ext cx="3474720" cy="1508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E7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28231" y="3840480"/>
            <a:ext cx="315467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800" b="1">
                <a:solidFill>
                  <a:srgbClr val="4E73DF"/>
                </a:solidFill>
                <a:latin typeface="Aptos"/>
              </a:defRPr>
            </a:pPr>
            <a:r>
              <a:t>Controller automation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8231" y="4270248"/>
            <a:ext cx="3154679" cy="8229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0">
                <a:solidFill>
                  <a:srgbClr val="414141"/>
                </a:solidFill>
                <a:latin typeface="Aptos"/>
              </a:defRPr>
            </a:pPr>
            <a:r>
              <a:t>`setup-local-user-homes.yml` runs only on localhost to create homes and install SSH public keys.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212529"/>
                </a:solidFill>
                <a:latin typeface="Aptos"/>
              </a:defRPr>
            </a:pPr>
            <a:r>
              <a:t>Data-to-system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6868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0">
                <a:solidFill>
                  <a:srgbClr val="6C757D"/>
                </a:solidFill>
                <a:latin typeface="Aptos"/>
              </a:defRPr>
            </a:pPr>
            <a:r>
              <a:t>Source files remain the authority; generated blocks are reviewed before manual application.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2011680"/>
            <a:ext cx="1965960" cy="1554480"/>
          </a:xfrm>
          <a:prstGeom prst="roundRect">
            <a:avLst/>
          </a:prstGeom>
          <a:solidFill>
            <a:srgbClr val="F8F9FC"/>
          </a:solidFill>
          <a:ln>
            <a:solidFill>
              <a:srgbClr val="4E7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176272"/>
            <a:ext cx="3200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4E73D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76272"/>
            <a:ext cx="1325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212529"/>
                </a:solidFill>
                <a:latin typeface="Aptos"/>
              </a:defRPr>
            </a:pPr>
            <a:r>
              <a:t>Edit CSVs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97480"/>
            <a:ext cx="16916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0">
                <a:solidFill>
                  <a:srgbClr val="414141"/>
                </a:solidFill>
                <a:latin typeface="Aptos"/>
              </a:defRPr>
            </a:pPr>
            <a:r>
              <a:t>Dashboard or raw editor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42032" y="251460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2200" b="1">
                <a:solidFill>
                  <a:srgbClr val="6C757D"/>
                </a:solidFill>
                <a:latin typeface="Aptos"/>
              </a:defRPr>
            </a:pPr>
            <a:r>
              <a:t>&gt;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34639" y="2011680"/>
            <a:ext cx="1965960" cy="1554480"/>
          </a:xfrm>
          <a:prstGeom prst="roundRect">
            <a:avLst/>
          </a:prstGeom>
          <a:solidFill>
            <a:srgbClr val="F8F9FC"/>
          </a:solidFill>
          <a:ln>
            <a:solidFill>
              <a:srgbClr val="2E5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71799" y="2176272"/>
            <a:ext cx="3200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2E59D9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59" y="2176272"/>
            <a:ext cx="1325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212529"/>
                </a:solidFill>
                <a:latin typeface="Aptos"/>
              </a:defRPr>
            </a:pPr>
            <a:r>
              <a:t>Publish blocks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71799" y="2697480"/>
            <a:ext cx="16916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0">
                <a:solidFill>
                  <a:srgbClr val="414141"/>
                </a:solidFill>
                <a:latin typeface="Aptos"/>
              </a:defRPr>
            </a:pPr>
            <a:r>
              <a:t>Generate passwd/group files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73752" y="251460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2200" b="1">
                <a:solidFill>
                  <a:srgbClr val="6C757D"/>
                </a:solidFill>
                <a:latin typeface="Aptos"/>
              </a:defRPr>
            </a:pPr>
            <a:r>
              <a:t>&gt;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66359" y="2011680"/>
            <a:ext cx="1965960" cy="1554480"/>
          </a:xfrm>
          <a:prstGeom prst="roundRect">
            <a:avLst/>
          </a:prstGeom>
          <a:solidFill>
            <a:srgbClr val="F8F9FC"/>
          </a:solidFill>
          <a:ln>
            <a:solidFill>
              <a:srgbClr val="4E7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0" y="2176272"/>
            <a:ext cx="3200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4E73D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79" y="2176272"/>
            <a:ext cx="1325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212529"/>
                </a:solidFill>
                <a:latin typeface="Aptos"/>
              </a:defRPr>
            </a:pPr>
            <a:r>
              <a:t>Deploy files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2697480"/>
            <a:ext cx="16916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0">
                <a:solidFill>
                  <a:srgbClr val="414141"/>
                </a:solidFill>
                <a:latin typeface="Aptos"/>
              </a:defRPr>
            </a:pPr>
            <a:r>
              <a:t>`make push` to /var/www/html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05471" y="251460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2200" b="1">
                <a:solidFill>
                  <a:srgbClr val="6C757D"/>
                </a:solidFill>
                <a:latin typeface="Aptos"/>
              </a:defRPr>
            </a:pPr>
            <a:r>
              <a:t>&gt;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79" y="2011680"/>
            <a:ext cx="1965960" cy="1554480"/>
          </a:xfrm>
          <a:prstGeom prst="roundRect">
            <a:avLst/>
          </a:prstGeom>
          <a:solidFill>
            <a:srgbClr val="F8F9FC"/>
          </a:solidFill>
          <a:ln>
            <a:solidFill>
              <a:srgbClr val="2E5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35240" y="2176272"/>
            <a:ext cx="3200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2E59D9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1000" y="2176272"/>
            <a:ext cx="1325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212529"/>
                </a:solidFill>
                <a:latin typeface="Aptos"/>
              </a:defRPr>
            </a:pPr>
            <a:r>
              <a:t>Apply remotely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35240" y="2697480"/>
            <a:ext cx="16916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0">
                <a:solidFill>
                  <a:srgbClr val="414141"/>
                </a:solidFill>
                <a:latin typeface="Aptos"/>
              </a:defRPr>
            </a:pPr>
            <a:r>
              <a:t>Ansible with check/diff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37192" y="251460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2200" b="1">
                <a:solidFill>
                  <a:srgbClr val="6C757D"/>
                </a:solidFill>
                <a:latin typeface="Aptos"/>
              </a:defRPr>
            </a:pPr>
            <a:r>
              <a:t>&gt;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829800" y="2011680"/>
            <a:ext cx="1965960" cy="1554480"/>
          </a:xfrm>
          <a:prstGeom prst="roundRect">
            <a:avLst/>
          </a:prstGeom>
          <a:solidFill>
            <a:srgbClr val="F8F9FC"/>
          </a:solidFill>
          <a:ln>
            <a:solidFill>
              <a:srgbClr val="4E7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966960" y="2176272"/>
            <a:ext cx="3200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4E73D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32720" y="2176272"/>
            <a:ext cx="1325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212529"/>
                </a:solidFill>
                <a:latin typeface="Aptos"/>
              </a:defRPr>
            </a:pPr>
            <a:r>
              <a:t>Prepare controller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66960" y="2697480"/>
            <a:ext cx="16916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0">
                <a:solidFill>
                  <a:srgbClr val="414141"/>
                </a:solidFill>
                <a:latin typeface="Aptos"/>
              </a:defRPr>
            </a:pPr>
            <a:r>
              <a:t>Homes and authorized keys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212529"/>
                </a:solidFill>
                <a:latin typeface="Aptos"/>
              </a:defRPr>
            </a:pPr>
            <a:r>
              <a:t>Ansible playbooks and order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6868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0">
                <a:solidFill>
                  <a:srgbClr val="6C757D"/>
                </a:solidFill>
                <a:latin typeface="Aptos"/>
              </a:defRPr>
            </a:pPr>
            <a:r>
              <a:t>Run as user `ansible` from the controller; preview with `--check --diff` first.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34440"/>
            <a:ext cx="3429000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5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1" y="1371600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800" b="1">
                <a:solidFill>
                  <a:srgbClr val="2E59D9"/>
                </a:solidFill>
                <a:latin typeface="Aptos"/>
              </a:defRPr>
            </a:pPr>
            <a:r>
              <a:t>1. update-group-block.yml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1" y="1801368"/>
            <a:ext cx="3108960" cy="2788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0">
                <a:solidFill>
                  <a:srgbClr val="414141"/>
                </a:solidFill>
                <a:latin typeface="Aptos"/>
              </a:defRPr>
            </a:pPr>
            <a:r>
              <a:t>Target: remote `virt` hosts</a:t>
            </a:r>
            <a:br/>
            <a:br/>
            <a:r>
              <a:t>Reads `hosts-block.txt` and updates the managed section of `/etc/group` with backups and privilege escalation.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234440"/>
            <a:ext cx="3429000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E7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53712" y="1371600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800" b="1">
                <a:solidFill>
                  <a:srgbClr val="4E73DF"/>
                </a:solidFill>
                <a:latin typeface="Aptos"/>
              </a:defRPr>
            </a:pPr>
            <a:r>
              <a:t>2. update-user-block.yml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53712" y="1801368"/>
            <a:ext cx="3108960" cy="2788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0">
                <a:solidFill>
                  <a:srgbClr val="414141"/>
                </a:solidFill>
                <a:latin typeface="Aptos"/>
              </a:defRPr>
            </a:pPr>
            <a:r>
              <a:t>Target: remote `virt` hosts</a:t>
            </a:r>
            <a:br/>
            <a:br/>
            <a:r>
              <a:t>Creates primary groups, updates the managed `/etc/passwd` section, and runs `pwconv`.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234440"/>
            <a:ext cx="3429000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5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02752" y="1371600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800" b="1">
                <a:solidFill>
                  <a:srgbClr val="2E59D9"/>
                </a:solidFill>
                <a:latin typeface="Aptos"/>
              </a:defRPr>
            </a:pPr>
            <a:r>
              <a:t>3. setup-local-user-homes.yml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02752" y="1801368"/>
            <a:ext cx="3108960" cy="2788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0">
                <a:solidFill>
                  <a:srgbClr val="414141"/>
                </a:solidFill>
                <a:latin typeface="Aptos"/>
              </a:defRPr>
            </a:pPr>
            <a:r>
              <a:t>Target: `localhost` only</a:t>
            </a:r>
            <a:br/>
            <a:br/>
            <a:r>
              <a:t>Creates `/share/home` directories and `.ssh/authorized_keys` with correct ownership and permissions.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230368"/>
            <a:ext cx="1069848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212529"/>
                </a:solidFill>
                <a:latin typeface="Aptos"/>
              </a:defRPr>
            </a:pPr>
            <a:r>
              <a:t>Recommended order (run as user ansible):</a:t>
            </a:r>
            <a:br/>
            <a:r>
              <a:t>update-group-block.yml  -&gt;  update-user-block.yml  -&gt;  setup-local-user-homes.yml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212529"/>
                </a:solidFill>
                <a:latin typeface="Aptos"/>
              </a:defRPr>
            </a:pPr>
            <a:r>
              <a:t>Advantages and operating principles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3327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0">
                <a:solidFill>
                  <a:srgbClr val="373737"/>
                </a:solidFill>
                <a:latin typeface="Aptos"/>
              </a:defRPr>
            </a:pPr>
            <a:r>
              <a:t>• Simple deployment model: PHP, CSV, generated blocks, and playbooks can live in `/var/www/html`.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21408"/>
            <a:ext cx="103327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0">
                <a:solidFill>
                  <a:srgbClr val="373737"/>
                </a:solidFill>
                <a:latin typeface="Aptos"/>
              </a:defRPr>
            </a:pPr>
            <a:r>
              <a:t>• Human-readable inputs support review, backup, and straightforward recovery.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871215"/>
            <a:ext cx="103327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0">
                <a:solidFill>
                  <a:srgbClr val="373737"/>
                </a:solidFill>
                <a:latin typeface="Aptos"/>
              </a:defRPr>
            </a:pPr>
            <a:r>
              <a:t>• Manual Ansible execution keeps production changes intentional and observable.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621024"/>
            <a:ext cx="103327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0">
                <a:solidFill>
                  <a:srgbClr val="373737"/>
                </a:solidFill>
                <a:latin typeface="Aptos"/>
              </a:defRPr>
            </a:pPr>
            <a:r>
              <a:t>• Targeted host synchronization preserves unrelated members instead of rebuilding lists.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370831"/>
            <a:ext cx="103327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0">
                <a:solidFill>
                  <a:srgbClr val="373737"/>
                </a:solidFill>
                <a:latin typeface="Aptos"/>
              </a:defRPr>
            </a:pPr>
            <a:r>
              <a:t>• Generated files use standard `/etc/passwd` and `/etc/group` formats.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120640"/>
            <a:ext cx="103327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0">
                <a:solidFill>
                  <a:srgbClr val="373737"/>
                </a:solidFill>
                <a:latin typeface="Aptos"/>
              </a:defRPr>
            </a:pPr>
            <a:r>
              <a:t>• Authentication and one-way password hashing protect dashboard access.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212529"/>
                </a:solidFill>
                <a:latin typeface="Aptos"/>
              </a:defRPr>
            </a:pPr>
            <a:r>
              <a:t>Quick start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4E73DF"/>
                </a:solidFill>
                <a:latin typeface="Aptos"/>
              </a:defRPr>
            </a:pPr>
            <a:r>
              <a:t>1. Start the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47548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1">
                <a:solidFill>
                  <a:srgbClr val="212529"/>
                </a:solidFill>
                <a:latin typeface="Aptos"/>
              </a:defRPr>
            </a:pPr>
            <a:r>
              <a:t>php -S 127.0.0.1:8000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51460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2E59D9"/>
                </a:solidFill>
                <a:latin typeface="Aptos"/>
              </a:defRPr>
            </a:pPr>
            <a:r>
              <a:t>2. Edit and publish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26080"/>
            <a:ext cx="5303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700" b="0">
                <a:solidFill>
                  <a:srgbClr val="373737"/>
                </a:solidFill>
                <a:latin typeface="Aptos"/>
              </a:defRPr>
            </a:pPr>
            <a:r>
              <a:t>Save users/hosts, then publish hosts-block.txt and users-block.txt.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70332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4E73DF"/>
                </a:solidFill>
                <a:latin typeface="Aptos"/>
              </a:defRPr>
            </a:pPr>
            <a:r>
              <a:t>3. Apply in order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114800"/>
            <a:ext cx="530352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800" b="1">
                <a:solidFill>
                  <a:srgbClr val="212529"/>
                </a:solidFill>
                <a:latin typeface="Aptos"/>
              </a:defRPr>
            </a:pPr>
            <a:r>
              <a:t>update-group-block.yml</a:t>
            </a:r>
            <a:br/>
            <a:r>
              <a:t>update-user-block.yml</a:t>
            </a:r>
            <a:br/>
            <a:r>
              <a:t>setup-local-user-homes.yml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475488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212529"/>
                </a:solidFill>
                <a:latin typeface="Aptos"/>
              </a:defRPr>
            </a:pPr>
            <a:r>
              <a:t>The dashboard provides the data and review surface; Ansible performs the controlled system changes.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